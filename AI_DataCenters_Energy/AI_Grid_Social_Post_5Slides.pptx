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52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195386" y="50171"/>
            <a:ext cx="10772591" cy="10204582"/>
          </a:xfrm>
          <a:custGeom>
            <a:avLst/>
            <a:gdLst/>
            <a:ahLst/>
            <a:cxnLst/>
            <a:rect l="l" t="t" r="r" b="b"/>
            <a:pathLst>
              <a:path w="10772591" h="10204582" extrusionOk="0">
                <a:moveTo>
                  <a:pt x="0" y="0"/>
                </a:moveTo>
                <a:lnTo>
                  <a:pt x="10772591" y="0"/>
                </a:lnTo>
                <a:lnTo>
                  <a:pt x="10772591" y="10204582"/>
                </a:lnTo>
                <a:lnTo>
                  <a:pt x="0" y="1020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5" name="Google Shape;85;p13"/>
          <p:cNvGrpSpPr/>
          <p:nvPr/>
        </p:nvGrpSpPr>
        <p:grpSpPr>
          <a:xfrm>
            <a:off x="-437682" y="-40903"/>
            <a:ext cx="19163363" cy="10336865"/>
            <a:chOff x="0" y="-9525"/>
            <a:chExt cx="5714583" cy="3082490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5714583" cy="3072965"/>
            </a:xfrm>
            <a:custGeom>
              <a:avLst/>
              <a:gdLst/>
              <a:ahLst/>
              <a:cxnLst/>
              <a:rect l="l" t="t" r="r" b="b"/>
              <a:pathLst>
                <a:path w="5714583" h="3072965" extrusionOk="0">
                  <a:moveTo>
                    <a:pt x="0" y="0"/>
                  </a:moveTo>
                  <a:lnTo>
                    <a:pt x="5714583" y="0"/>
                  </a:lnTo>
                  <a:lnTo>
                    <a:pt x="5714583" y="3072965"/>
                  </a:lnTo>
                  <a:lnTo>
                    <a:pt x="0" y="3072965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9525"/>
              <a:ext cx="5714583" cy="3082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2375" tIns="252375" rIns="252375" bIns="252375" anchor="ctr" anchorCtr="0">
              <a:noAutofit/>
            </a:bodyPr>
            <a:lstStyle/>
            <a:p>
              <a:pPr marL="0" marR="0" lvl="0" indent="0" algn="ctr" rtl="0">
                <a:lnSpc>
                  <a:spcPct val="2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3"/>
          <p:cNvSpPr/>
          <p:nvPr/>
        </p:nvSpPr>
        <p:spPr>
          <a:xfrm flipH="1">
            <a:off x="14266574" y="-1129745"/>
            <a:ext cx="5522080" cy="5971887"/>
          </a:xfrm>
          <a:custGeom>
            <a:avLst/>
            <a:gdLst/>
            <a:ahLst/>
            <a:cxnLst/>
            <a:rect l="l" t="t" r="r" b="b"/>
            <a:pathLst>
              <a:path w="5522080" h="5971887" extrusionOk="0">
                <a:moveTo>
                  <a:pt x="5522080" y="0"/>
                </a:moveTo>
                <a:lnTo>
                  <a:pt x="0" y="0"/>
                </a:lnTo>
                <a:lnTo>
                  <a:pt x="0" y="5971887"/>
                </a:lnTo>
                <a:lnTo>
                  <a:pt x="5522080" y="5971887"/>
                </a:lnTo>
                <a:lnTo>
                  <a:pt x="552208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972" r="-797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3"/>
          <p:cNvSpPr/>
          <p:nvPr/>
        </p:nvSpPr>
        <p:spPr>
          <a:xfrm rot="10800000" flipH="1">
            <a:off x="-2977953" y="0"/>
            <a:ext cx="10932990" cy="10754228"/>
          </a:xfrm>
          <a:custGeom>
            <a:avLst/>
            <a:gdLst/>
            <a:ahLst/>
            <a:cxnLst/>
            <a:rect l="l" t="t" r="r" b="b"/>
            <a:pathLst>
              <a:path w="10932990" h="10754228" extrusionOk="0">
                <a:moveTo>
                  <a:pt x="0" y="10754228"/>
                </a:moveTo>
                <a:lnTo>
                  <a:pt x="10932990" y="10754228"/>
                </a:lnTo>
                <a:lnTo>
                  <a:pt x="10932990" y="0"/>
                </a:lnTo>
                <a:lnTo>
                  <a:pt x="0" y="0"/>
                </a:lnTo>
                <a:lnTo>
                  <a:pt x="0" y="1075422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331" t="-1279" b="-144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3"/>
          <p:cNvSpPr/>
          <p:nvPr/>
        </p:nvSpPr>
        <p:spPr>
          <a:xfrm>
            <a:off x="1028700" y="647102"/>
            <a:ext cx="3052785" cy="763196"/>
          </a:xfrm>
          <a:custGeom>
            <a:avLst/>
            <a:gdLst/>
            <a:ahLst/>
            <a:cxnLst/>
            <a:rect l="l" t="t" r="r" b="b"/>
            <a:pathLst>
              <a:path w="3052785" h="763196" extrusionOk="0">
                <a:moveTo>
                  <a:pt x="0" y="0"/>
                </a:moveTo>
                <a:lnTo>
                  <a:pt x="3052785" y="0"/>
                </a:lnTo>
                <a:lnTo>
                  <a:pt x="3052785" y="763196"/>
                </a:lnTo>
                <a:lnTo>
                  <a:pt x="0" y="763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Google Shape;91;p13"/>
          <p:cNvSpPr/>
          <p:nvPr/>
        </p:nvSpPr>
        <p:spPr>
          <a:xfrm>
            <a:off x="3863333" y="-1129745"/>
            <a:ext cx="10561333" cy="6521623"/>
          </a:xfrm>
          <a:custGeom>
            <a:avLst/>
            <a:gdLst/>
            <a:ahLst/>
            <a:cxnLst/>
            <a:rect l="l" t="t" r="r" b="b"/>
            <a:pathLst>
              <a:path w="10561333" h="6521623" extrusionOk="0">
                <a:moveTo>
                  <a:pt x="0" y="0"/>
                </a:moveTo>
                <a:lnTo>
                  <a:pt x="10561334" y="0"/>
                </a:lnTo>
                <a:lnTo>
                  <a:pt x="10561334" y="6521623"/>
                </a:lnTo>
                <a:lnTo>
                  <a:pt x="0" y="6521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1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Google Shape;92;p13"/>
          <p:cNvSpPr txBox="1"/>
          <p:nvPr/>
        </p:nvSpPr>
        <p:spPr>
          <a:xfrm>
            <a:off x="4519167" y="2276209"/>
            <a:ext cx="1012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000000"/>
                </a:solidFill>
              </a:rPr>
              <a:t>AI's Power Problem</a:t>
            </a:r>
            <a:endParaRPr b="1"/>
          </a:p>
        </p:txBody>
      </p:sp>
      <p:sp>
        <p:nvSpPr>
          <p:cNvPr id="93" name="Google Shape;93;p13"/>
          <p:cNvSpPr txBox="1"/>
          <p:nvPr/>
        </p:nvSpPr>
        <p:spPr>
          <a:xfrm>
            <a:off x="4831667" y="473622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Grid Wasn't Built For This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4195386" y="50171"/>
            <a:ext cx="10772591" cy="10204582"/>
          </a:xfrm>
          <a:custGeom>
            <a:avLst/>
            <a:gdLst/>
            <a:ahLst/>
            <a:cxnLst/>
            <a:rect l="l" t="t" r="r" b="b"/>
            <a:pathLst>
              <a:path w="10772591" h="10204582" extrusionOk="0">
                <a:moveTo>
                  <a:pt x="0" y="0"/>
                </a:moveTo>
                <a:lnTo>
                  <a:pt x="10772591" y="0"/>
                </a:lnTo>
                <a:lnTo>
                  <a:pt x="10772591" y="10204582"/>
                </a:lnTo>
                <a:lnTo>
                  <a:pt x="0" y="1020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9" name="Google Shape;99;p14"/>
          <p:cNvGrpSpPr/>
          <p:nvPr/>
        </p:nvGrpSpPr>
        <p:grpSpPr>
          <a:xfrm>
            <a:off x="-437682" y="-40903"/>
            <a:ext cx="19163363" cy="10336865"/>
            <a:chOff x="0" y="-9525"/>
            <a:chExt cx="5714583" cy="3082490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5714583" cy="3072965"/>
            </a:xfrm>
            <a:custGeom>
              <a:avLst/>
              <a:gdLst/>
              <a:ahLst/>
              <a:cxnLst/>
              <a:rect l="l" t="t" r="r" b="b"/>
              <a:pathLst>
                <a:path w="5714583" h="3072965" extrusionOk="0">
                  <a:moveTo>
                    <a:pt x="0" y="0"/>
                  </a:moveTo>
                  <a:lnTo>
                    <a:pt x="5714583" y="0"/>
                  </a:lnTo>
                  <a:lnTo>
                    <a:pt x="5714583" y="3072965"/>
                  </a:lnTo>
                  <a:lnTo>
                    <a:pt x="0" y="3072965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9525"/>
              <a:ext cx="5714583" cy="3082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2375" tIns="252375" rIns="252375" bIns="252375" anchor="ctr" anchorCtr="0">
              <a:noAutofit/>
            </a:bodyPr>
            <a:lstStyle/>
            <a:p>
              <a:pPr marL="0" marR="0" lvl="0" indent="0" algn="ctr" rtl="0">
                <a:lnSpc>
                  <a:spcPct val="2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4"/>
          <p:cNvSpPr/>
          <p:nvPr/>
        </p:nvSpPr>
        <p:spPr>
          <a:xfrm flipH="1">
            <a:off x="14266574" y="-1129745"/>
            <a:ext cx="5522080" cy="5971887"/>
          </a:xfrm>
          <a:custGeom>
            <a:avLst/>
            <a:gdLst/>
            <a:ahLst/>
            <a:cxnLst/>
            <a:rect l="l" t="t" r="r" b="b"/>
            <a:pathLst>
              <a:path w="5522080" h="5971887" extrusionOk="0">
                <a:moveTo>
                  <a:pt x="5522080" y="0"/>
                </a:moveTo>
                <a:lnTo>
                  <a:pt x="0" y="0"/>
                </a:lnTo>
                <a:lnTo>
                  <a:pt x="0" y="5971887"/>
                </a:lnTo>
                <a:lnTo>
                  <a:pt x="5522080" y="5971887"/>
                </a:lnTo>
                <a:lnTo>
                  <a:pt x="552208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7972" r="-797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p14"/>
          <p:cNvSpPr/>
          <p:nvPr/>
        </p:nvSpPr>
        <p:spPr>
          <a:xfrm rot="10800000" flipH="1">
            <a:off x="-6376903" y="50171"/>
            <a:ext cx="10932990" cy="10754228"/>
          </a:xfrm>
          <a:custGeom>
            <a:avLst/>
            <a:gdLst/>
            <a:ahLst/>
            <a:cxnLst/>
            <a:rect l="l" t="t" r="r" b="b"/>
            <a:pathLst>
              <a:path w="10932990" h="10754228" extrusionOk="0">
                <a:moveTo>
                  <a:pt x="0" y="10754229"/>
                </a:moveTo>
                <a:lnTo>
                  <a:pt x="10932990" y="10754229"/>
                </a:lnTo>
                <a:lnTo>
                  <a:pt x="10932990" y="0"/>
                </a:lnTo>
                <a:lnTo>
                  <a:pt x="0" y="0"/>
                </a:lnTo>
                <a:lnTo>
                  <a:pt x="0" y="107542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331" t="-1279" b="-144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Google Shape;104;p14"/>
          <p:cNvSpPr/>
          <p:nvPr/>
        </p:nvSpPr>
        <p:spPr>
          <a:xfrm>
            <a:off x="1028700" y="1028700"/>
            <a:ext cx="3309993" cy="827498"/>
          </a:xfrm>
          <a:custGeom>
            <a:avLst/>
            <a:gdLst/>
            <a:ahLst/>
            <a:cxnLst/>
            <a:rect l="l" t="t" r="r" b="b"/>
            <a:pathLst>
              <a:path w="3309993" h="827498" extrusionOk="0">
                <a:moveTo>
                  <a:pt x="0" y="0"/>
                </a:moveTo>
                <a:lnTo>
                  <a:pt x="3309993" y="0"/>
                </a:lnTo>
                <a:lnTo>
                  <a:pt x="3309993" y="827498"/>
                </a:lnTo>
                <a:lnTo>
                  <a:pt x="0" y="827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14"/>
          <p:cNvSpPr/>
          <p:nvPr/>
        </p:nvSpPr>
        <p:spPr>
          <a:xfrm>
            <a:off x="4112651" y="-1329794"/>
            <a:ext cx="9520570" cy="5878952"/>
          </a:xfrm>
          <a:custGeom>
            <a:avLst/>
            <a:gdLst/>
            <a:ahLst/>
            <a:cxnLst/>
            <a:rect l="l" t="t" r="r" b="b"/>
            <a:pathLst>
              <a:path w="9520570" h="5878952" extrusionOk="0">
                <a:moveTo>
                  <a:pt x="0" y="0"/>
                </a:moveTo>
                <a:lnTo>
                  <a:pt x="9520571" y="0"/>
                </a:lnTo>
                <a:lnTo>
                  <a:pt x="9520571" y="5878952"/>
                </a:lnTo>
                <a:lnTo>
                  <a:pt x="0" y="5878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3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Google Shape;106;p14"/>
          <p:cNvSpPr txBox="1"/>
          <p:nvPr/>
        </p:nvSpPr>
        <p:spPr>
          <a:xfrm>
            <a:off x="5581667" y="1600000"/>
            <a:ext cx="8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</a:rPr>
              <a:t>899 TWh</a:t>
            </a:r>
            <a:endParaRPr b="1"/>
          </a:p>
        </p:txBody>
      </p:sp>
      <p:sp>
        <p:nvSpPr>
          <p:cNvPr id="107" name="Google Shape;107;p14"/>
          <p:cNvSpPr txBox="1"/>
          <p:nvPr/>
        </p:nvSpPr>
        <p:spPr>
          <a:xfrm>
            <a:off x="4831667" y="3550000"/>
            <a:ext cx="95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data centers now draw about 2% of global electricity, a share set to triple by 2028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4195386" y="50171"/>
            <a:ext cx="10772591" cy="10204582"/>
          </a:xfrm>
          <a:custGeom>
            <a:avLst/>
            <a:gdLst/>
            <a:ahLst/>
            <a:cxnLst/>
            <a:rect l="l" t="t" r="r" b="b"/>
            <a:pathLst>
              <a:path w="10772591" h="10204582" extrusionOk="0">
                <a:moveTo>
                  <a:pt x="0" y="0"/>
                </a:moveTo>
                <a:lnTo>
                  <a:pt x="10772591" y="0"/>
                </a:lnTo>
                <a:lnTo>
                  <a:pt x="10772591" y="10204582"/>
                </a:lnTo>
                <a:lnTo>
                  <a:pt x="0" y="1020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9" name="Google Shape;99;p14"/>
          <p:cNvGrpSpPr/>
          <p:nvPr/>
        </p:nvGrpSpPr>
        <p:grpSpPr>
          <a:xfrm>
            <a:off x="-437682" y="-40903"/>
            <a:ext cx="19163363" cy="10336865"/>
            <a:chOff x="0" y="-9525"/>
            <a:chExt cx="5714583" cy="3082490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5714583" cy="3072965"/>
            </a:xfrm>
            <a:custGeom>
              <a:avLst/>
              <a:gdLst/>
              <a:ahLst/>
              <a:cxnLst/>
              <a:rect l="l" t="t" r="r" b="b"/>
              <a:pathLst>
                <a:path w="5714583" h="3072965" extrusionOk="0">
                  <a:moveTo>
                    <a:pt x="0" y="0"/>
                  </a:moveTo>
                  <a:lnTo>
                    <a:pt x="5714583" y="0"/>
                  </a:lnTo>
                  <a:lnTo>
                    <a:pt x="5714583" y="3072965"/>
                  </a:lnTo>
                  <a:lnTo>
                    <a:pt x="0" y="3072965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9525"/>
              <a:ext cx="5714583" cy="3082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2375" tIns="252375" rIns="252375" bIns="252375" anchor="ctr" anchorCtr="0">
              <a:noAutofit/>
            </a:bodyPr>
            <a:lstStyle/>
            <a:p>
              <a:pPr marL="0" marR="0" lvl="0" indent="0" algn="ctr" rtl="0">
                <a:lnSpc>
                  <a:spcPct val="2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4"/>
          <p:cNvSpPr/>
          <p:nvPr/>
        </p:nvSpPr>
        <p:spPr>
          <a:xfrm flipH="1">
            <a:off x="14266574" y="-1129745"/>
            <a:ext cx="5522080" cy="5971887"/>
          </a:xfrm>
          <a:custGeom>
            <a:avLst/>
            <a:gdLst/>
            <a:ahLst/>
            <a:cxnLst/>
            <a:rect l="l" t="t" r="r" b="b"/>
            <a:pathLst>
              <a:path w="5522080" h="5971887" extrusionOk="0">
                <a:moveTo>
                  <a:pt x="5522080" y="0"/>
                </a:moveTo>
                <a:lnTo>
                  <a:pt x="0" y="0"/>
                </a:lnTo>
                <a:lnTo>
                  <a:pt x="0" y="5971887"/>
                </a:lnTo>
                <a:lnTo>
                  <a:pt x="5522080" y="5971887"/>
                </a:lnTo>
                <a:lnTo>
                  <a:pt x="552208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972" r="-797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p14"/>
          <p:cNvSpPr/>
          <p:nvPr/>
        </p:nvSpPr>
        <p:spPr>
          <a:xfrm rot="10800000" flipH="1">
            <a:off x="-6376903" y="50171"/>
            <a:ext cx="10932990" cy="10754228"/>
          </a:xfrm>
          <a:custGeom>
            <a:avLst/>
            <a:gdLst/>
            <a:ahLst/>
            <a:cxnLst/>
            <a:rect l="l" t="t" r="r" b="b"/>
            <a:pathLst>
              <a:path w="10932990" h="10754228" extrusionOk="0">
                <a:moveTo>
                  <a:pt x="0" y="10754229"/>
                </a:moveTo>
                <a:lnTo>
                  <a:pt x="10932990" y="10754229"/>
                </a:lnTo>
                <a:lnTo>
                  <a:pt x="10932990" y="0"/>
                </a:lnTo>
                <a:lnTo>
                  <a:pt x="0" y="0"/>
                </a:lnTo>
                <a:lnTo>
                  <a:pt x="0" y="107542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331" t="-1279" b="-144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Google Shape;104;p14"/>
          <p:cNvSpPr/>
          <p:nvPr/>
        </p:nvSpPr>
        <p:spPr>
          <a:xfrm>
            <a:off x="1028700" y="1028700"/>
            <a:ext cx="3309993" cy="827498"/>
          </a:xfrm>
          <a:custGeom>
            <a:avLst/>
            <a:gdLst/>
            <a:ahLst/>
            <a:cxnLst/>
            <a:rect l="l" t="t" r="r" b="b"/>
            <a:pathLst>
              <a:path w="3309993" h="827498" extrusionOk="0">
                <a:moveTo>
                  <a:pt x="0" y="0"/>
                </a:moveTo>
                <a:lnTo>
                  <a:pt x="3309993" y="0"/>
                </a:lnTo>
                <a:lnTo>
                  <a:pt x="3309993" y="827498"/>
                </a:lnTo>
                <a:lnTo>
                  <a:pt x="0" y="827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14"/>
          <p:cNvSpPr/>
          <p:nvPr/>
        </p:nvSpPr>
        <p:spPr>
          <a:xfrm>
            <a:off x="4112651" y="-1329794"/>
            <a:ext cx="9520570" cy="5878952"/>
          </a:xfrm>
          <a:custGeom>
            <a:avLst/>
            <a:gdLst/>
            <a:ahLst/>
            <a:cxnLst/>
            <a:rect l="l" t="t" r="r" b="b"/>
            <a:pathLst>
              <a:path w="9520570" h="5878952" extrusionOk="0">
                <a:moveTo>
                  <a:pt x="0" y="0"/>
                </a:moveTo>
                <a:lnTo>
                  <a:pt x="9520571" y="0"/>
                </a:lnTo>
                <a:lnTo>
                  <a:pt x="9520571" y="5878952"/>
                </a:lnTo>
                <a:lnTo>
                  <a:pt x="0" y="5878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Google Shape;106;p14"/>
          <p:cNvSpPr txBox="1"/>
          <p:nvPr/>
        </p:nvSpPr>
        <p:spPr>
          <a:xfrm>
            <a:off x="5581667" y="1600000"/>
            <a:ext cx="8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</a:rPr>
              <a:t>100+ kW/Rack</a:t>
            </a:r>
            <a:endParaRPr b="1"/>
          </a:p>
        </p:txBody>
      </p:sp>
      <p:sp>
        <p:nvSpPr>
          <p:cNvPr id="107" name="Google Shape;107;p14"/>
          <p:cNvSpPr txBox="1"/>
          <p:nvPr/>
        </p:nvSpPr>
        <p:spPr>
          <a:xfrm>
            <a:off x="4831667" y="3550000"/>
            <a:ext cx="95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AI rack can draw as much power as an entire row of conventional servers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4195386" y="50171"/>
            <a:ext cx="10772591" cy="10204582"/>
          </a:xfrm>
          <a:custGeom>
            <a:avLst/>
            <a:gdLst/>
            <a:ahLst/>
            <a:cxnLst/>
            <a:rect l="l" t="t" r="r" b="b"/>
            <a:pathLst>
              <a:path w="10772591" h="10204582" extrusionOk="0">
                <a:moveTo>
                  <a:pt x="0" y="0"/>
                </a:moveTo>
                <a:lnTo>
                  <a:pt x="10772591" y="0"/>
                </a:lnTo>
                <a:lnTo>
                  <a:pt x="10772591" y="10204582"/>
                </a:lnTo>
                <a:lnTo>
                  <a:pt x="0" y="1020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9" name="Google Shape;99;p14"/>
          <p:cNvGrpSpPr/>
          <p:nvPr/>
        </p:nvGrpSpPr>
        <p:grpSpPr>
          <a:xfrm>
            <a:off x="-437682" y="-40903"/>
            <a:ext cx="19163363" cy="10336865"/>
            <a:chOff x="0" y="-9525"/>
            <a:chExt cx="5714583" cy="3082490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5714583" cy="3072965"/>
            </a:xfrm>
            <a:custGeom>
              <a:avLst/>
              <a:gdLst/>
              <a:ahLst/>
              <a:cxnLst/>
              <a:rect l="l" t="t" r="r" b="b"/>
              <a:pathLst>
                <a:path w="5714583" h="3072965" extrusionOk="0">
                  <a:moveTo>
                    <a:pt x="0" y="0"/>
                  </a:moveTo>
                  <a:lnTo>
                    <a:pt x="5714583" y="0"/>
                  </a:lnTo>
                  <a:lnTo>
                    <a:pt x="5714583" y="3072965"/>
                  </a:lnTo>
                  <a:lnTo>
                    <a:pt x="0" y="3072965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9525"/>
              <a:ext cx="5714583" cy="3082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2375" tIns="252375" rIns="252375" bIns="252375" anchor="ctr" anchorCtr="0">
              <a:noAutofit/>
            </a:bodyPr>
            <a:lstStyle/>
            <a:p>
              <a:pPr marL="0" marR="0" lvl="0" indent="0" algn="ctr" rtl="0">
                <a:lnSpc>
                  <a:spcPct val="2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4"/>
          <p:cNvSpPr/>
          <p:nvPr/>
        </p:nvSpPr>
        <p:spPr>
          <a:xfrm flipH="1">
            <a:off x="14266574" y="-1129745"/>
            <a:ext cx="5522080" cy="5971887"/>
          </a:xfrm>
          <a:custGeom>
            <a:avLst/>
            <a:gdLst/>
            <a:ahLst/>
            <a:cxnLst/>
            <a:rect l="l" t="t" r="r" b="b"/>
            <a:pathLst>
              <a:path w="5522080" h="5971887" extrusionOk="0">
                <a:moveTo>
                  <a:pt x="5522080" y="0"/>
                </a:moveTo>
                <a:lnTo>
                  <a:pt x="0" y="0"/>
                </a:lnTo>
                <a:lnTo>
                  <a:pt x="0" y="5971887"/>
                </a:lnTo>
                <a:lnTo>
                  <a:pt x="5522080" y="5971887"/>
                </a:lnTo>
                <a:lnTo>
                  <a:pt x="552208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972" r="-797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p14"/>
          <p:cNvSpPr/>
          <p:nvPr/>
        </p:nvSpPr>
        <p:spPr>
          <a:xfrm rot="10800000" flipH="1">
            <a:off x="-6376903" y="50171"/>
            <a:ext cx="10932990" cy="10754228"/>
          </a:xfrm>
          <a:custGeom>
            <a:avLst/>
            <a:gdLst/>
            <a:ahLst/>
            <a:cxnLst/>
            <a:rect l="l" t="t" r="r" b="b"/>
            <a:pathLst>
              <a:path w="10932990" h="10754228" extrusionOk="0">
                <a:moveTo>
                  <a:pt x="0" y="10754229"/>
                </a:moveTo>
                <a:lnTo>
                  <a:pt x="10932990" y="10754229"/>
                </a:lnTo>
                <a:lnTo>
                  <a:pt x="10932990" y="0"/>
                </a:lnTo>
                <a:lnTo>
                  <a:pt x="0" y="0"/>
                </a:lnTo>
                <a:lnTo>
                  <a:pt x="0" y="1075422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331" t="-1279" b="-144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Google Shape;104;p14"/>
          <p:cNvSpPr/>
          <p:nvPr/>
        </p:nvSpPr>
        <p:spPr>
          <a:xfrm>
            <a:off x="1028700" y="1028700"/>
            <a:ext cx="3309993" cy="827498"/>
          </a:xfrm>
          <a:custGeom>
            <a:avLst/>
            <a:gdLst/>
            <a:ahLst/>
            <a:cxnLst/>
            <a:rect l="l" t="t" r="r" b="b"/>
            <a:pathLst>
              <a:path w="3309993" h="827498" extrusionOk="0">
                <a:moveTo>
                  <a:pt x="0" y="0"/>
                </a:moveTo>
                <a:lnTo>
                  <a:pt x="3309993" y="0"/>
                </a:lnTo>
                <a:lnTo>
                  <a:pt x="3309993" y="827498"/>
                </a:lnTo>
                <a:lnTo>
                  <a:pt x="0" y="827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p14"/>
          <p:cNvSpPr/>
          <p:nvPr/>
        </p:nvSpPr>
        <p:spPr>
          <a:xfrm>
            <a:off x="4112651" y="-1329794"/>
            <a:ext cx="9520570" cy="5878952"/>
          </a:xfrm>
          <a:custGeom>
            <a:avLst/>
            <a:gdLst/>
            <a:ahLst/>
            <a:cxnLst/>
            <a:rect l="l" t="t" r="r" b="b"/>
            <a:pathLst>
              <a:path w="9520570" h="5878952" extrusionOk="0">
                <a:moveTo>
                  <a:pt x="0" y="0"/>
                </a:moveTo>
                <a:lnTo>
                  <a:pt x="9520571" y="0"/>
                </a:lnTo>
                <a:lnTo>
                  <a:pt x="9520571" y="5878952"/>
                </a:lnTo>
                <a:lnTo>
                  <a:pt x="0" y="5878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43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Google Shape;106;p14"/>
          <p:cNvSpPr txBox="1"/>
          <p:nvPr/>
        </p:nvSpPr>
        <p:spPr>
          <a:xfrm>
            <a:off x="5581667" y="1600000"/>
            <a:ext cx="8000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</a:rPr>
              <a:t>3 Timescales</a:t>
            </a:r>
            <a:endParaRPr b="1"/>
          </a:p>
        </p:txBody>
      </p:sp>
      <p:sp>
        <p:nvSpPr>
          <p:cNvPr id="107" name="Google Shape;107;p14"/>
          <p:cNvSpPr txBox="1"/>
          <p:nvPr/>
        </p:nvSpPr>
        <p:spPr>
          <a:xfrm>
            <a:off x="4831667" y="3550000"/>
            <a:ext cx="9500000" cy="1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multi-year planning to millisecond stability, AI is testing the grid at every timescale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195386" y="50171"/>
            <a:ext cx="10772591" cy="10204582"/>
          </a:xfrm>
          <a:custGeom>
            <a:avLst/>
            <a:gdLst/>
            <a:ahLst/>
            <a:cxnLst/>
            <a:rect l="l" t="t" r="r" b="b"/>
            <a:pathLst>
              <a:path w="10772591" h="10204582" extrusionOk="0">
                <a:moveTo>
                  <a:pt x="0" y="0"/>
                </a:moveTo>
                <a:lnTo>
                  <a:pt x="10772591" y="0"/>
                </a:lnTo>
                <a:lnTo>
                  <a:pt x="10772591" y="10204582"/>
                </a:lnTo>
                <a:lnTo>
                  <a:pt x="0" y="10204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85" name="Google Shape;85;p13"/>
          <p:cNvGrpSpPr/>
          <p:nvPr/>
        </p:nvGrpSpPr>
        <p:grpSpPr>
          <a:xfrm>
            <a:off x="-437682" y="-40903"/>
            <a:ext cx="19163363" cy="10336865"/>
            <a:chOff x="0" y="-9525"/>
            <a:chExt cx="5714583" cy="3082490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5714583" cy="3072965"/>
            </a:xfrm>
            <a:custGeom>
              <a:avLst/>
              <a:gdLst/>
              <a:ahLst/>
              <a:cxnLst/>
              <a:rect l="l" t="t" r="r" b="b"/>
              <a:pathLst>
                <a:path w="5714583" h="3072965" extrusionOk="0">
                  <a:moveTo>
                    <a:pt x="0" y="0"/>
                  </a:moveTo>
                  <a:lnTo>
                    <a:pt x="5714583" y="0"/>
                  </a:lnTo>
                  <a:lnTo>
                    <a:pt x="5714583" y="3072965"/>
                  </a:lnTo>
                  <a:lnTo>
                    <a:pt x="0" y="3072965"/>
                  </a:lnTo>
                  <a:close/>
                </a:path>
              </a:pathLst>
            </a:custGeom>
            <a:solidFill>
              <a:srgbClr val="FFFEFE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9525"/>
              <a:ext cx="5714583" cy="30824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2375" tIns="252375" rIns="252375" bIns="252375" anchor="ctr" anchorCtr="0">
              <a:noAutofit/>
            </a:bodyPr>
            <a:lstStyle/>
            <a:p>
              <a:pPr marL="0" marR="0" lvl="0" indent="0" algn="ctr" rtl="0">
                <a:lnSpc>
                  <a:spcPct val="2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3"/>
          <p:cNvSpPr/>
          <p:nvPr/>
        </p:nvSpPr>
        <p:spPr>
          <a:xfrm flipH="1">
            <a:off x="14266574" y="-1129745"/>
            <a:ext cx="5522080" cy="5971887"/>
          </a:xfrm>
          <a:custGeom>
            <a:avLst/>
            <a:gdLst/>
            <a:ahLst/>
            <a:cxnLst/>
            <a:rect l="l" t="t" r="r" b="b"/>
            <a:pathLst>
              <a:path w="5522080" h="5971887" extrusionOk="0">
                <a:moveTo>
                  <a:pt x="5522080" y="0"/>
                </a:moveTo>
                <a:lnTo>
                  <a:pt x="0" y="0"/>
                </a:lnTo>
                <a:lnTo>
                  <a:pt x="0" y="5971887"/>
                </a:lnTo>
                <a:lnTo>
                  <a:pt x="5522080" y="5971887"/>
                </a:lnTo>
                <a:lnTo>
                  <a:pt x="552208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972" r="-7972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3"/>
          <p:cNvSpPr/>
          <p:nvPr/>
        </p:nvSpPr>
        <p:spPr>
          <a:xfrm rot="10800000" flipH="1">
            <a:off x="-2977953" y="0"/>
            <a:ext cx="10932990" cy="10754228"/>
          </a:xfrm>
          <a:custGeom>
            <a:avLst/>
            <a:gdLst/>
            <a:ahLst/>
            <a:cxnLst/>
            <a:rect l="l" t="t" r="r" b="b"/>
            <a:pathLst>
              <a:path w="10932990" h="10754228" extrusionOk="0">
                <a:moveTo>
                  <a:pt x="0" y="10754228"/>
                </a:moveTo>
                <a:lnTo>
                  <a:pt x="10932990" y="10754228"/>
                </a:lnTo>
                <a:lnTo>
                  <a:pt x="10932990" y="0"/>
                </a:lnTo>
                <a:lnTo>
                  <a:pt x="0" y="0"/>
                </a:lnTo>
                <a:lnTo>
                  <a:pt x="0" y="1075422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331" t="-1279" b="-1443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3"/>
          <p:cNvSpPr/>
          <p:nvPr/>
        </p:nvSpPr>
        <p:spPr>
          <a:xfrm>
            <a:off x="1028700" y="647102"/>
            <a:ext cx="3052785" cy="763196"/>
          </a:xfrm>
          <a:custGeom>
            <a:avLst/>
            <a:gdLst/>
            <a:ahLst/>
            <a:cxnLst/>
            <a:rect l="l" t="t" r="r" b="b"/>
            <a:pathLst>
              <a:path w="3052785" h="763196" extrusionOk="0">
                <a:moveTo>
                  <a:pt x="0" y="0"/>
                </a:moveTo>
                <a:lnTo>
                  <a:pt x="3052785" y="0"/>
                </a:lnTo>
                <a:lnTo>
                  <a:pt x="3052785" y="763196"/>
                </a:lnTo>
                <a:lnTo>
                  <a:pt x="0" y="7631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Google Shape;91;p13"/>
          <p:cNvSpPr/>
          <p:nvPr/>
        </p:nvSpPr>
        <p:spPr>
          <a:xfrm>
            <a:off x="3863333" y="-1129745"/>
            <a:ext cx="10561333" cy="6521623"/>
          </a:xfrm>
          <a:custGeom>
            <a:avLst/>
            <a:gdLst/>
            <a:ahLst/>
            <a:cxnLst/>
            <a:rect l="l" t="t" r="r" b="b"/>
            <a:pathLst>
              <a:path w="10561333" h="6521623" extrusionOk="0">
                <a:moveTo>
                  <a:pt x="0" y="0"/>
                </a:moveTo>
                <a:lnTo>
                  <a:pt x="10561334" y="0"/>
                </a:lnTo>
                <a:lnTo>
                  <a:pt x="10561334" y="6521623"/>
                </a:lnTo>
                <a:lnTo>
                  <a:pt x="0" y="6521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31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Google Shape;92;p13"/>
          <p:cNvSpPr txBox="1"/>
          <p:nvPr/>
        </p:nvSpPr>
        <p:spPr>
          <a:xfrm>
            <a:off x="4519167" y="2276209"/>
            <a:ext cx="10125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000000"/>
                </a:solidFill>
              </a:rPr>
              <a:t>Power Is the New Bottleneck</a:t>
            </a:r>
            <a:endParaRPr b="1"/>
          </a:p>
        </p:txBody>
      </p:sp>
      <p:sp>
        <p:nvSpPr>
          <p:cNvPr id="93" name="Google Shape;93;p13"/>
          <p:cNvSpPr txBox="1"/>
          <p:nvPr/>
        </p:nvSpPr>
        <p:spPr>
          <a:xfrm>
            <a:off x="4831667" y="5300000"/>
            <a:ext cx="95000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ready AI starts with planning for megawatts, not just model size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Custom</PresentationFormat>
  <Paragraphs>10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Dr. Umar Rashid</cp:lastModifiedBy>
  <cp:revision>1</cp:revision>
  <dcterms:modified xsi:type="dcterms:W3CDTF">2026-07-16T19:13:42Z</dcterms:modified>
</cp:coreProperties>
</file>